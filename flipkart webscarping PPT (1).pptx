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282" r:id="rId10"/>
    <p:sldId id="267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5" r:id="rId20"/>
    <p:sldId id="276" r:id="rId21"/>
    <p:sldId id="296" r:id="rId22"/>
    <p:sldId id="297" r:id="rId23"/>
    <p:sldId id="298" r:id="rId24"/>
    <p:sldId id="25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DD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3374" autoAdjust="0"/>
  </p:normalViewPr>
  <p:slideViewPr>
    <p:cSldViewPr snapToGrid="0">
      <p:cViewPr varScale="1">
        <p:scale>
          <a:sx n="77" d="100"/>
          <a:sy n="77" d="100"/>
        </p:scale>
        <p:origin x="9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41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github.com/Rsandeep07" TargetMode="External"/><Relationship Id="rId2" Type="http://schemas.openxmlformats.org/officeDocument/2006/relationships/hyperlink" Target="mailto:https://www.linkedin.com/in/sandeep-ramadugula-23b250296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1196"/>
            <a:ext cx="12192000" cy="67468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450357" y="5584764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of Smartphone Pricing and Specifications on Flipkart</a:t>
            </a:r>
          </a:p>
        </p:txBody>
      </p:sp>
      <p:pic>
        <p:nvPicPr>
          <p:cNvPr id="1030" name="Picture 6" descr="Flipkart sees 60% surge in sub-Rs 10k smartphone segment product search  since June">
            <a:extLst>
              <a:ext uri="{FF2B5EF4-FFF2-40B4-BE49-F238E27FC236}">
                <a16:creationId xmlns:a16="http://schemas.microsoft.com/office/drawing/2014/main" id="{2E48B912-0242-41E3-B736-0604E8615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98" y="3706238"/>
            <a:ext cx="4289898" cy="178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9515"/>
            <a:ext cx="10515600" cy="3193848"/>
          </a:xfrm>
        </p:spPr>
        <p:txBody>
          <a:bodyPr>
            <a:norm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R. Sai Sandeep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B.Tech graduate passionate about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Data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enjoy exploring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real-world datasets and working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data extraction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trend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dashboards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https://www.linkedin.com/in/sandeep-ramadugula-23b250296/"/>
              </a:rPr>
              <a:t>https://www.linkedin.com/in/sandeep-ramadugula-23b250296/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mailto:https://github.com/Rsandeep07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C5619B-AF52-4B08-B319-6C478C581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3414" y="1194643"/>
            <a:ext cx="903513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smartphone market is highly competitive with frequent model launches across brands and price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specifications on e-commerce platforms like Flipkart are scattered and unstructured.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comparison and analysis of smartphone features difficult for consumers and analysts.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scarping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collecting real-time mobile data directly from Flipkart.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Python libraries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were used to extract product details.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 was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cleaned, processed, and converted into a structured dataset using Pandas.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dataset enables brand comparison, price analysis, feature distribution, and trend insights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4" name="Picture 6" descr="logos of Popular Mobile company">
            <a:extLst>
              <a:ext uri="{FF2B5EF4-FFF2-40B4-BE49-F238E27FC236}">
                <a16:creationId xmlns:a16="http://schemas.microsoft.com/office/drawing/2014/main" id="{C92CD7E4-1C24-4812-9ED9-691C699F7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746" y="933855"/>
            <a:ext cx="2448840" cy="495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35028" y="1570008"/>
            <a:ext cx="7019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ECF22A2-8184-434F-B4BE-82A7352F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85" y="1570008"/>
            <a:ext cx="1056571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Mobile phone data on Flipkart is spread across multiple product pages and is not directly structured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for analysis.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 such as RAM, ROM, processor, and battery are not consistently formatted, which 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makes comparison difficult.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Prices and ratings change frequently, making it challenging to track market trends accurately.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Multiple variants of the same model lead to confusion in evaluating value for money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cleaned and organized dataset is required to support clear comparison and insight-driven decision making.</a:t>
            </a:r>
          </a:p>
        </p:txBody>
      </p:sp>
      <p:pic>
        <p:nvPicPr>
          <p:cNvPr id="3079" name="Picture 7" descr="Flipkart promotes sustainable shopping, expands 'Flipkart Green' store -  FashionNetwork India">
            <a:extLst>
              <a:ext uri="{FF2B5EF4-FFF2-40B4-BE49-F238E27FC236}">
                <a16:creationId xmlns:a16="http://schemas.microsoft.com/office/drawing/2014/main" id="{2E327CF5-D03D-4524-9158-591AD340B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05" y="1901757"/>
            <a:ext cx="2471995" cy="305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562" y="1507059"/>
            <a:ext cx="11682919" cy="33835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mobile phone data such as price, RAM, ROM, battery and ratings from      Flipkart.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organize and convert the raw scraped data into a structured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market trends across brands and model segments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visual insights that support comparison and understanding of market positioning.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83534" y="1294960"/>
            <a:ext cx="9580704" cy="3807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mobile pages were selected as the primary data source.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Requests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HTML parsing.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 were iterated and extracted across multiple pages for multiple brands.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delays were added to avoid request blocking.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values were stored in lists and converted to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155643" y="973394"/>
            <a:ext cx="6895000" cy="449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extra characters and formatting from specifications.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values for RAM, ROM, processor and battery capacity.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price, rating and review counts into numeric values.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and removed duplicate entries.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into columns for easier analysis and visualization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9A03C-E429-409D-AD79-53186FF6D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466" y="883920"/>
            <a:ext cx="4412582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55F545-D336-4D2F-8C5A-2F8AE3A80D00}"/>
              </a:ext>
            </a:extLst>
          </p:cNvPr>
          <p:cNvCxnSpPr>
            <a:cxnSpLocks/>
          </p:cNvCxnSpPr>
          <p:nvPr/>
        </p:nvCxnSpPr>
        <p:spPr>
          <a:xfrm>
            <a:off x="0" y="96935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E490B0A4-5A7C-4FFC-9600-2DF85D806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647" y="1058627"/>
            <a:ext cx="7509754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highly right-skewed, indicating that most mobile phones are priced at the lower end of the spectrum.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mobiles are priced below ₹20,000, showing that budget and mid-range phones dominate the market.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sharp drop in frequency as prices increase beyond ₹25,000, suggesting fewer high-end or premium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few phones exceed ₹100,000, representing a niche luxury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peak frequency occurs in the lowest price range (around ₹5,000–₹10,000), reflecting strong affordability demand.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tail extends beyond ₹200,000, indicating that ultra-premium models exist but are rare.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mobile price market is concentrated in the lower price bands, with a gradual decline toward higher prices.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34151C-B06B-4353-B908-045191889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1" y="1752600"/>
            <a:ext cx="4031710" cy="4391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58CF30-B050-4AF4-A111-9F12ACE7D078}"/>
              </a:ext>
            </a:extLst>
          </p:cNvPr>
          <p:cNvSpPr txBox="1"/>
          <p:nvPr/>
        </p:nvSpPr>
        <p:spPr>
          <a:xfrm>
            <a:off x="9342119" y="1289496"/>
            <a:ext cx="227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9D58679-5216-4322-8355-2E70DBAA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3247385"/>
            <a:ext cx="681915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2FD63A0-C77F-4073-8EA9-F0784C2BC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4A4093A-F70E-4C80-A258-2C1206DF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851429"/>
            <a:ext cx="7451455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Vivo, Redmi,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hold the largest market shares, dominating the mobile segment.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and Samsung also have significant shares, reflecting their strong premium market presence.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Infinix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Poco, and Motorola capture smaller portions, representing the mid- to budget-range competition.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competitive, with no single brand overwhelmingly dominating.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Vivo’s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share appears slightly ahead, indicating strong consumer preference in the segment.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Redmi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together make up a major portion of the affordable smartphone market.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chart reflects a balanced distribution between premium and budget brands, showing wide consumer diversity.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CEA4BB-CFF7-4B8C-9475-26E1CBD95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30" y="1393007"/>
            <a:ext cx="4584969" cy="4776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9E9B14-184B-4A35-AF02-E5815D9805A1}"/>
              </a:ext>
            </a:extLst>
          </p:cNvPr>
          <p:cNvSpPr txBox="1"/>
          <p:nvPr/>
        </p:nvSpPr>
        <p:spPr>
          <a:xfrm>
            <a:off x="9227820" y="1104900"/>
            <a:ext cx="176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0A4864-6B24-4EE3-ABD7-E6FCA5813D5E}"/>
              </a:ext>
            </a:extLst>
          </p:cNvPr>
          <p:cNvCxnSpPr/>
          <p:nvPr/>
        </p:nvCxnSpPr>
        <p:spPr>
          <a:xfrm>
            <a:off x="0" y="87208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02FDFA5A-E51B-453B-9818-AA043DC41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827" y="537909"/>
            <a:ext cx="7324926" cy="613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RAM show a strong positive correlation (0.66) — higher RAM generally leads to higher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and ROM are highly correlated (0.82), indicating that phones with more RAM often come with higher storage.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memory has the strongest correlation with RAM (0.83), which is expected since it’s derived from memory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capacity shows a moderate correlation with both RAM and ROM (≈0.59), suggesting higher-end phones often have larger batteries.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Rating has a moderate positive correlation (≈0.45–0.50) with specs like RAM, ROM, and total memory.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Total Reviews show a weak correlation (0.07) — price does not significantly impact the number of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Reviews have negligible correlation with other features, implying that popularity depends on more than just specifications.</a:t>
            </a:r>
          </a:p>
        </p:txBody>
      </p:sp>
      <p:sp>
        <p:nvSpPr>
          <p:cNvPr id="11" name="AutoShape 4" descr="Uploaded image">
            <a:extLst>
              <a:ext uri="{FF2B5EF4-FFF2-40B4-BE49-F238E27FC236}">
                <a16:creationId xmlns:a16="http://schemas.microsoft.com/office/drawing/2014/main" id="{E41D3175-8009-4F67-94E0-A5E9B2A33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A3E221-0D0A-44EA-AEF1-9D8F558B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57" y="1264921"/>
            <a:ext cx="4390416" cy="47954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A52F8C-79BE-4B7B-A5EE-0DDF72D2BF74}"/>
              </a:ext>
            </a:extLst>
          </p:cNvPr>
          <p:cNvSpPr txBox="1"/>
          <p:nvPr/>
        </p:nvSpPr>
        <p:spPr>
          <a:xfrm>
            <a:off x="9189720" y="969357"/>
            <a:ext cx="1744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 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74" y="101849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3D70FA-61CE-45FC-B79F-C686D9404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74" y="3200732"/>
            <a:ext cx="7140103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D82700-7DDF-4ABE-8AAD-5454CDDB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32" y="1037714"/>
            <a:ext cx="7626485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leads the market —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number of available models, exceeding 650, showing strong product diversity.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Redmi follows closely — Redmi ranks second with over 600 models, indicating intense competition with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Vivo, Apple, and Samsung — These three brands form the mid-tier group, each offering between 490 and 530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competition — The top five brands collectively dominate the market, highlighting customer preference for well-known names.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Motorola, Poco,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Infinix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These brands show moderate model availability (around 270–290), appealing to niche or budget-friendly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Lava and Oppo at the bottom — With around 200–210 models, they have the smallest variety among the top 10.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4DE70-59C2-4811-9CD8-6661D82D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217" y="1836422"/>
            <a:ext cx="4332051" cy="43786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FDA9E3-9D60-4263-B245-C4E6AA1A5340}"/>
              </a:ext>
            </a:extLst>
          </p:cNvPr>
          <p:cNvCxnSpPr/>
          <p:nvPr/>
        </p:nvCxnSpPr>
        <p:spPr>
          <a:xfrm>
            <a:off x="0" y="622216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7F79219-9A12-4574-9B54-B84E578E2914}"/>
              </a:ext>
            </a:extLst>
          </p:cNvPr>
          <p:cNvSpPr txBox="1"/>
          <p:nvPr/>
        </p:nvSpPr>
        <p:spPr>
          <a:xfrm>
            <a:off x="9279863" y="1415826"/>
            <a:ext cx="2202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5E77F-AC4E-4C0C-8992-7E6C98D45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CEAF3A-62E1-48BD-9646-45227E094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5690681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trend: Average ratings generally increase with higher price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 phones: Show the widest rating variation, ranging from very low to high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Mid-Range phones: Have consistent ratings around 4.2–4.4, indicating balanced performance and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segment: Displays slightly higher median ratings, showing better user 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Flagship phones: Achieve the highest and most consistent ratings, with medians close to 4.5–4.6.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Outliers: Budget and mid-range categories have several low-rating outliers, showing inconsistent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 Higher-priced phones tend to deliver more consistent and higher user satisfaction.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42FA8-E181-4293-9E18-E1FD2B50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681" y="1639568"/>
            <a:ext cx="5861118" cy="45758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E2AF37-4853-42E0-8A9E-B51CD4856CEC}"/>
              </a:ext>
            </a:extLst>
          </p:cNvPr>
          <p:cNvSpPr txBox="1"/>
          <p:nvPr/>
        </p:nvSpPr>
        <p:spPr>
          <a:xfrm>
            <a:off x="7962900" y="1165860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29B1B-5AAE-475B-A6B3-51DA6FC94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2192000" cy="15875"/>
          </a:xfrm>
          <a:prstGeom prst="rect">
            <a:avLst/>
          </a:prstGeom>
          <a:solidFill>
            <a:srgbClr val="000000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A3CE8-F047-47AC-8071-E364D0F6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566" y="1361873"/>
            <a:ext cx="4464996" cy="481868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309F81C-9AB4-4EEC-8FEB-1188CA18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1429"/>
            <a:ext cx="7538936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are highly positive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Most ratings fall between 4.0 and 4.5, showing strong customer 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around 4.4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 highest concentration of ratings is near 4.4, indicating consistently high-quality products.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low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Very few ratings are below 3.0, suggesting minimal dissatisfaction.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 histogram leans toward higher values, emphasizing generally favorable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count between 3.5–4.0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 small number of average ratings suggest a middle-performing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volume of reviews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Over 3,500 products are rated in the 4.4 range, showing trust and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Overall customer perception is strongly positive across the dataset.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81AFD-1581-4F25-8399-635EAC1EC52B}"/>
              </a:ext>
            </a:extLst>
          </p:cNvPr>
          <p:cNvSpPr txBox="1"/>
          <p:nvPr/>
        </p:nvSpPr>
        <p:spPr>
          <a:xfrm>
            <a:off x="9174480" y="1054096"/>
            <a:ext cx="1706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BAR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940" y="249330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A52F4F-AAEA-4CBA-8CAF-B6774185F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3DA067DC-356F-4334-886C-A0DD35290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9638"/>
            <a:ext cx="6699114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RAM capacity increases, the price of devices also tends to rise.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RAM models like 12GB and 16GB show a wider range of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outliers are visible, indicating some premium or high-performance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with 1GB to 4GB RAM mostly fall under ₹20,000, showing they belong to the budget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with 6GB to 8GB RAM are moderately priced, between ₹20,000 and ₹60,000.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with 12GB and 16GB RAM are generally in the premium segment, exceeding ₹1,00,000.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high RAM values such as 128GB and 468GB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rare or may be data anomalies.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B71A04-6D1A-4E20-A690-B30086DF0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174" y="1440179"/>
            <a:ext cx="5518826" cy="475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3F3E2-7018-448B-B614-4F90674BFC67}"/>
              </a:ext>
            </a:extLst>
          </p:cNvPr>
          <p:cNvSpPr txBox="1"/>
          <p:nvPr/>
        </p:nvSpPr>
        <p:spPr>
          <a:xfrm>
            <a:off x="9254490" y="1100223"/>
            <a:ext cx="1908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BOX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4D6ABA-E307-4D80-9B1F-7FD91C08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DEF8BE-003E-434B-9C03-92923C437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59" y="1775457"/>
            <a:ext cx="5174960" cy="4138959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E070D19-8385-48DD-9BBA-AA6DB306B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81" y="955703"/>
            <a:ext cx="6561078" cy="627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 holds the highest average price among all brands, exceeding ₹90,000.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Xiaomi15, 13, and Google follow with similar average prices around ₹70,000.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noticeable price gap exists between Apple and other brands, highlighting Apple’s premium positioning.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Nexus and Nothing occupy the mid-range segment with average prices between ₹40,000–₹45,000.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 and OnePlus offer slightly lower average prices, around ₹35,000–₹38,000.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 and 11 have the lowest average prices among the top 10, around ₹30,000.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chart shows a clear hierarchy of pricing — from luxury brands like Apple to budget-friendly ones like Xiaomi.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3C5E0-4AAA-4135-B802-DAEE20D3EFB7}"/>
              </a:ext>
            </a:extLst>
          </p:cNvPr>
          <p:cNvSpPr txBox="1"/>
          <p:nvPr/>
        </p:nvSpPr>
        <p:spPr>
          <a:xfrm>
            <a:off x="8595360" y="1325880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B11E3-1C74-4FB5-BF95-35E345B5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28" y="1920238"/>
            <a:ext cx="4260714" cy="422924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DEB4E19-9CD7-43D9-B649-B77DBDAD8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9E9C267-F2A2-4A34-AD32-BE34464BD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1072644"/>
            <a:ext cx="7915072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and ROM show a weak positive correlation (0.14), indicating they vary somewhat independently.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 and total memory have a very strong positive correlation (0.99), as expected since total memory depends on ROM.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size and battery capacity are highly correlated (0.87), suggesting larger screens come with higher battery power.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shows a moderate positive correlation with ROM (0.60) and total memory (0.61), meaning higher memory devices tend to be costlier.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rating has a weak to moderate correlation with display (0.48) and battery (0.50), implying better-rated phones often have larger displays and batteries.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price per total GB metric has low or negative correlation with most features, indicating it varies independently of hardware specs.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20228-4A73-461F-8151-64F03580CE11}"/>
              </a:ext>
            </a:extLst>
          </p:cNvPr>
          <p:cNvSpPr txBox="1"/>
          <p:nvPr/>
        </p:nvSpPr>
        <p:spPr>
          <a:xfrm>
            <a:off x="9197340" y="149352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 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722526" y="1391754"/>
            <a:ext cx="54288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CE0EDA-A23A-4313-9304-71AA3F2D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940" y="863919"/>
            <a:ext cx="12217940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56067-EF08-4EB0-B7A1-658C4A78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9357"/>
            <a:ext cx="733465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chart compares average ratings of the top 10 smartphone brands on a scale from 0 to 5.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Xiaomi15 stands out with the highest average rating, slightly above 5, indicating exceptional user satisfaction.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brand labeled "11" has the lowest rating, just below 4, suggesting potential issues in quality or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entries like Xiaomi15, Xiaomi, and 13 hint at brand segmentation or inconsistent naming conventions.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Well-known brands such as Apple, Samsung, Google, and OnePlus maintain strong ratings around 4.5 to 5.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Nothing and Nexus also perform competitively, reflecting positive consumer perception.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guide strategic decisions in marketing, product development, and competitive benchmarking.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2F7AC-A17C-4737-95A9-4C331FB7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654" y="1638297"/>
            <a:ext cx="4857346" cy="45319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83CF79-1363-4C75-B416-15847E4BA42E}"/>
              </a:ext>
            </a:extLst>
          </p:cNvPr>
          <p:cNvSpPr txBox="1"/>
          <p:nvPr/>
        </p:nvSpPr>
        <p:spPr>
          <a:xfrm>
            <a:off x="9204960" y="1208722"/>
            <a:ext cx="1729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A0CE-8274-A1F5-3A9F-98D98152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" y="100387"/>
            <a:ext cx="7763435" cy="89469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0F45B-8C8B-4F0A-895C-52F2A579D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771038"/>
            <a:ext cx="846325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main objective of analyzing the Flipkart Phones Dataset?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Python libraries are primarily used for data scraping and analysis in this project?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business problem addressed by this dataset?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can be an analytical goal of this project?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feature is most useful to determine the value-for-money of a phone?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visualization would best show the relationship between price and rating?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kind of insights can this project generate for business use?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9" name="Picture 3" descr="Flipkart to launch its own smartphone ...">
            <a:extLst>
              <a:ext uri="{FF2B5EF4-FFF2-40B4-BE49-F238E27FC236}">
                <a16:creationId xmlns:a16="http://schemas.microsoft.com/office/drawing/2014/main" id="{8C91047C-B129-4BDF-9C02-BF67F8979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511" y="690664"/>
            <a:ext cx="3463045" cy="482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44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31" y="3467713"/>
            <a:ext cx="10826750" cy="66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404ECF-C3E5-4E20-90A0-4D001256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1098550"/>
            <a:ext cx="11553217" cy="558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High Ratings and Brand Competition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smartphone brands on Flipkart show consistently high average ratings, with most scoring between 4 and 5—indicating strong consumer satisfaction and competitive product quality.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Variants and Naming Overlap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entries like Xiaomi15, Xiaomi, and 13 suggest naming inconsistencies or variant overlap, which may affect clarity in brand perception and data interpretation.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Flagship Models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Xiaomi15, Apple, and Samsung consistently rank among the highest-rated brands, reflecting their strong market presence and consumer trust across product lines.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 Spread Highlights Quality Gaps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top brands maintain ratings above 4.5, lower-rated entries like "11" reveal gaps in performance or user experience, offering opportunities for improvement.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Feedback Drives Insights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ratings serve as a proxy for user satisfaction, helping identify strengths in design, performance, and value across brands.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5E8E-6849-AC7C-6AB8-8B2CA1F3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5" y="2418101"/>
            <a:ext cx="3302655" cy="1670152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62551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27846" y="1350029"/>
            <a:ext cx="90314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Scraped smartphone data from Flipkart using Python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(Beautiful Soup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and standardized key fields: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price, brand, overall rating.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visualizations for price categories and rating distribution.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an end-to-end data workflow: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 → cleaning → analysis → visualization.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64110" y="1560839"/>
            <a:ext cx="607249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webpage structures across Brands.</a:t>
            </a:r>
          </a:p>
          <a:p>
            <a:pPr marL="342900"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mismatched match details.</a:t>
            </a:r>
          </a:p>
          <a:p>
            <a:pPr marL="342900"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Handling duplicate, noisy, and unclean data.</a:t>
            </a:r>
          </a:p>
          <a:p>
            <a:pPr marL="342900"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Dealing with request blocks and slow scraping speed.</a:t>
            </a:r>
          </a:p>
          <a:p>
            <a:pPr marL="342900"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Selecting the most meaningful visuals for insights.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151103-8F0E-4627-9E42-5F99166E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2107</Words>
  <Application>Microsoft Office PowerPoint</Application>
  <PresentationFormat>Widescreen</PresentationFormat>
  <Paragraphs>159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Times New Roman</vt:lpstr>
      <vt:lpstr>Wingdings</vt:lpstr>
      <vt:lpstr>Calibri</vt:lpstr>
      <vt:lpstr>Arial</vt:lpstr>
      <vt:lpstr>Office Theme</vt:lpstr>
      <vt:lpstr>PowerPoint Presentation</vt:lpstr>
      <vt:lpstr>About Us: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Business Questions</vt:lpstr>
      <vt:lpstr>Conclusion:</vt:lpstr>
      <vt:lpstr>Q&amp;A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SAI SANDEEP</cp:lastModifiedBy>
  <cp:revision>61</cp:revision>
  <dcterms:created xsi:type="dcterms:W3CDTF">2021-02-16T05:19:01Z</dcterms:created>
  <dcterms:modified xsi:type="dcterms:W3CDTF">2025-11-10T07:17:04Z</dcterms:modified>
</cp:coreProperties>
</file>